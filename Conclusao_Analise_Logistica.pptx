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501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0B466"/>
          </a:solidFill>
          <a:ln w="12700">
            <a:solidFill>
              <a:srgbClr val="50B46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255">
            <a:solidFill>
              <a:srgbClr val="2B3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10" kern="0" dirty="0">
                <a:solidFill>
                  <a:srgbClr val="8E98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PORTFÓLIO  /  ANÁLISE DE LOGÍSTICA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98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98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1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777240"/>
            <a:ext cx="3429000" cy="5257800"/>
          </a:xfrm>
          <a:prstGeom prst="roundRect">
            <a:avLst>
              <a:gd name="adj" fmla="val 3200"/>
            </a:avLst>
          </a:prstGeom>
          <a:solidFill>
            <a:srgbClr val="141816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75320" y="107899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 /  DATA  /  INSIGHTS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8275320" y="15087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6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VISÃO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6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GERENCIAL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302752" y="2880360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Pedidos • Canais • Categorias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• Devoluções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394192" y="4142232"/>
            <a:ext cx="2505456" cy="0"/>
          </a:xfrm>
          <a:prstGeom prst="line">
            <a:avLst/>
          </a:prstGeom>
          <a:noFill/>
          <a:ln w="27940">
            <a:solidFill>
              <a:srgbClr val="469F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39328" y="4087368"/>
            <a:ext cx="109728" cy="109728"/>
          </a:xfrm>
          <a:prstGeom prst="ellipse">
            <a:avLst/>
          </a:prstGeom>
          <a:solidFill>
            <a:srgbClr val="50B466"/>
          </a:solidFill>
          <a:ln w="12700">
            <a:solidFill>
              <a:srgbClr val="50B46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51976" y="4087368"/>
            <a:ext cx="109728" cy="109728"/>
          </a:xfrm>
          <a:prstGeom prst="ellipse">
            <a:avLst/>
          </a:prstGeom>
          <a:solidFill>
            <a:srgbClr val="F2CF3A"/>
          </a:solidFill>
          <a:ln w="12700">
            <a:solidFill>
              <a:srgbClr val="F2CF3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64624" y="4087368"/>
            <a:ext cx="109728" cy="109728"/>
          </a:xfrm>
          <a:prstGeom prst="ellipse">
            <a:avLst/>
          </a:prstGeom>
          <a:solidFill>
            <a:srgbClr val="438BF2"/>
          </a:solidFill>
          <a:ln w="12700">
            <a:solidFill>
              <a:srgbClr val="438BF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77272" y="4087368"/>
            <a:ext cx="109728" cy="109728"/>
          </a:xfrm>
          <a:prstGeom prst="ellipse">
            <a:avLst/>
          </a:prstGeom>
          <a:solidFill>
            <a:srgbClr val="A4AAA6"/>
          </a:solidFill>
          <a:ln w="12700">
            <a:solidFill>
              <a:srgbClr val="A4AAA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9920" y="4087368"/>
            <a:ext cx="109728" cy="109728"/>
          </a:xfrm>
          <a:prstGeom prst="ellipse">
            <a:avLst/>
          </a:prstGeom>
          <a:solidFill>
            <a:srgbClr val="50B466"/>
          </a:solidFill>
          <a:ln w="12700">
            <a:solidFill>
              <a:srgbClr val="50B466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02752" y="4590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40" kern="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  →  POWER BI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7132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DE PORTFÓLIO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1234440"/>
            <a:ext cx="6675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6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ANÁLISE DE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6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LOGÍSTICA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6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EMPRESARIAL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667512" y="3685032"/>
            <a:ext cx="1051560" cy="73152"/>
          </a:xfrm>
          <a:prstGeom prst="rect">
            <a:avLst/>
          </a:prstGeom>
          <a:solidFill>
            <a:srgbClr val="50B466"/>
          </a:solidFill>
          <a:ln w="9525">
            <a:solidFill>
              <a:srgbClr val="50B46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" y="3986784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estruturação dos dados à leitura dos indicadores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foco em operação, vendas e devoluções.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5074920"/>
            <a:ext cx="1170432" cy="265176"/>
          </a:xfrm>
          <a:prstGeom prst="roundRect">
            <a:avLst>
              <a:gd name="adj" fmla="val 41379"/>
            </a:avLst>
          </a:prstGeom>
          <a:solidFill>
            <a:srgbClr val="1B211D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5170932"/>
            <a:ext cx="73152" cy="73152"/>
          </a:xfrm>
          <a:prstGeom prst="ellipse">
            <a:avLst/>
          </a:prstGeom>
          <a:solidFill>
            <a:srgbClr val="50B466"/>
          </a:solidFill>
          <a:ln w="12700">
            <a:solidFill>
              <a:srgbClr val="50B466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2688" y="5106924"/>
            <a:ext cx="859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MODELAGEM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1975104" y="5074920"/>
            <a:ext cx="667512" cy="265176"/>
          </a:xfrm>
          <a:prstGeom prst="roundRect">
            <a:avLst>
              <a:gd name="adj" fmla="val 41379"/>
            </a:avLst>
          </a:prstGeom>
          <a:solidFill>
            <a:srgbClr val="1B211D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84832" y="5170932"/>
            <a:ext cx="73152" cy="73152"/>
          </a:xfrm>
          <a:prstGeom prst="ellipse">
            <a:avLst/>
          </a:prstGeom>
          <a:solidFill>
            <a:srgbClr val="F2CF3A"/>
          </a:solidFill>
          <a:ln w="12700">
            <a:solidFill>
              <a:srgbClr val="F2CF3A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221992" y="5106924"/>
            <a:ext cx="3566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KPIs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2761488" y="5074920"/>
            <a:ext cx="1234440" cy="265176"/>
          </a:xfrm>
          <a:prstGeom prst="roundRect">
            <a:avLst>
              <a:gd name="adj" fmla="val 41379"/>
            </a:avLst>
          </a:prstGeom>
          <a:solidFill>
            <a:srgbClr val="1B211D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1216" y="5170932"/>
            <a:ext cx="73152" cy="73152"/>
          </a:xfrm>
          <a:prstGeom prst="ellipse">
            <a:avLst/>
          </a:prstGeom>
          <a:solidFill>
            <a:srgbClr val="438BF2"/>
          </a:solidFill>
          <a:ln w="12700">
            <a:solidFill>
              <a:srgbClr val="438BF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08376" y="5106924"/>
            <a:ext cx="9235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820" dirty="0"/>
          </a:p>
        </p:txBody>
      </p:sp>
      <p:sp>
        <p:nvSpPr>
          <p:cNvPr id="26" name="Text 24"/>
          <p:cNvSpPr txBox="1"/>
          <p:nvPr/>
        </p:nvSpPr>
        <p:spPr>
          <a:xfrm>
            <a:off x="694944" y="56967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70" kern="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 •  PROJETO DE ANÁLISE DE DADOS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98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/  RESUMO EXECUTIVO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6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Uma visão consolidada da operação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base reúne pedidos, clientes, produtos e devoluções; os números abaixo foram recalculados a partir da planilha enviada.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627632"/>
            <a:ext cx="2606040" cy="1261872"/>
          </a:xfrm>
          <a:prstGeom prst="roundRect">
            <a:avLst>
              <a:gd name="adj" fmla="val 8696"/>
            </a:avLst>
          </a:prstGeom>
          <a:solidFill>
            <a:srgbClr val="141816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92224"/>
            <a:ext cx="64008" cy="932688"/>
          </a:xfrm>
          <a:prstGeom prst="roundRect">
            <a:avLst>
              <a:gd name="adj" fmla="val 171429"/>
            </a:avLst>
          </a:prstGeom>
          <a:solidFill>
            <a:srgbClr val="50B466"/>
          </a:solidFill>
          <a:ln w="9525">
            <a:solidFill>
              <a:srgbClr val="50B4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5256" y="1783080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70" kern="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PEDIDOS REGISTRADOS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905256" y="2066544"/>
            <a:ext cx="21671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6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200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905256" y="2551176"/>
            <a:ext cx="2167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Jan–out/2026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73552" y="1627632"/>
            <a:ext cx="2606040" cy="1261872"/>
          </a:xfrm>
          <a:prstGeom prst="roundRect">
            <a:avLst>
              <a:gd name="adj" fmla="val 8696"/>
            </a:avLst>
          </a:prstGeom>
          <a:solidFill>
            <a:srgbClr val="141816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0712" y="1792224"/>
            <a:ext cx="64008" cy="932688"/>
          </a:xfrm>
          <a:prstGeom prst="roundRect">
            <a:avLst>
              <a:gd name="adj" fmla="val 171429"/>
            </a:avLst>
          </a:prstGeom>
          <a:solidFill>
            <a:srgbClr val="50B466"/>
          </a:solidFill>
          <a:ln w="9525">
            <a:solidFill>
              <a:srgbClr val="50B4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84448" y="1783080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70" kern="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LÍQUIDO REGISTRADO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3584448" y="2066544"/>
            <a:ext cx="21671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6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R$ 220.919,30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584448" y="2551176"/>
            <a:ext cx="2167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Todos os status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52744" y="1627632"/>
            <a:ext cx="2606040" cy="1261872"/>
          </a:xfrm>
          <a:prstGeom prst="roundRect">
            <a:avLst>
              <a:gd name="adj" fmla="val 8696"/>
            </a:avLst>
          </a:prstGeom>
          <a:solidFill>
            <a:srgbClr val="141816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9904" y="1792224"/>
            <a:ext cx="64008" cy="932688"/>
          </a:xfrm>
          <a:prstGeom prst="roundRect">
            <a:avLst>
              <a:gd name="adj" fmla="val 171429"/>
            </a:avLst>
          </a:prstGeom>
          <a:solidFill>
            <a:srgbClr val="438BF2"/>
          </a:solidFill>
          <a:ln w="9525">
            <a:solidFill>
              <a:srgbClr val="438B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1783080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70" kern="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PEDIDOS ENTREGUES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066544"/>
            <a:ext cx="21671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6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137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2551176"/>
            <a:ext cx="2167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68,5% do volume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631936" y="1627632"/>
            <a:ext cx="2907792" cy="1261872"/>
          </a:xfrm>
          <a:prstGeom prst="roundRect">
            <a:avLst>
              <a:gd name="adj" fmla="val 8696"/>
            </a:avLst>
          </a:prstGeom>
          <a:solidFill>
            <a:srgbClr val="141816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69096" y="1792224"/>
            <a:ext cx="64008" cy="932688"/>
          </a:xfrm>
          <a:prstGeom prst="roundRect">
            <a:avLst>
              <a:gd name="adj" fmla="val 171429"/>
            </a:avLst>
          </a:prstGeom>
          <a:solidFill>
            <a:srgbClr val="F2CF3A"/>
          </a:solidFill>
          <a:ln w="9525">
            <a:solidFill>
              <a:srgbClr val="F2CF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42832" y="17830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70" kern="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DE DEVOLUÇÃO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8942832" y="2066544"/>
            <a:ext cx="2468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6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2500" dirty="0"/>
          </a:p>
        </p:txBody>
      </p:sp>
      <p:sp>
        <p:nvSpPr>
          <p:cNvPr id="24" name="Text 22"/>
          <p:cNvSpPr txBox="1"/>
          <p:nvPr/>
        </p:nvSpPr>
        <p:spPr>
          <a:xfrm>
            <a:off x="8942832" y="255117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 unidades devolvidas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94360" y="3154680"/>
            <a:ext cx="6903720" cy="2331720"/>
          </a:xfrm>
          <a:prstGeom prst="roundRect">
            <a:avLst>
              <a:gd name="adj" fmla="val 4706"/>
            </a:avLst>
          </a:prstGeom>
          <a:solidFill>
            <a:srgbClr val="141816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1248" y="3401568"/>
            <a:ext cx="6355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3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EXECUTIVA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41248" y="3639312"/>
            <a:ext cx="6355080" cy="0"/>
          </a:xfrm>
          <a:prstGeom prst="line">
            <a:avLst/>
          </a:prstGeom>
          <a:noFill/>
          <a:ln w="8890">
            <a:solidFill>
              <a:srgbClr val="3037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0392" y="3877056"/>
            <a:ext cx="73152" cy="73152"/>
          </a:xfrm>
          <a:prstGeom prst="ellipse">
            <a:avLst/>
          </a:prstGeom>
          <a:solidFill>
            <a:srgbClr val="50B466"/>
          </a:solidFill>
          <a:ln w="12700">
            <a:solidFill>
              <a:srgbClr val="50B466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14984" y="3803904"/>
            <a:ext cx="6190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Site concentra o maior volume: 99 pedidos e R$ 116,9 mil em valor líquido registrado.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850392" y="4416552"/>
            <a:ext cx="73152" cy="73152"/>
          </a:xfrm>
          <a:prstGeom prst="ellipse">
            <a:avLst/>
          </a:prstGeom>
          <a:solidFill>
            <a:srgbClr val="438BF2"/>
          </a:solidFill>
          <a:ln w="12700">
            <a:solidFill>
              <a:srgbClr val="438BF2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4984" y="4343400"/>
            <a:ext cx="6190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Informática representa 60,3% do valor líquido registrado na base.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850392" y="4956048"/>
            <a:ext cx="73152" cy="73152"/>
          </a:xfrm>
          <a:prstGeom prst="ellipse">
            <a:avLst/>
          </a:prstGeom>
          <a:solidFill>
            <a:srgbClr val="F2CF3A"/>
          </a:solidFill>
          <a:ln w="12700">
            <a:solidFill>
              <a:srgbClr val="F2CF3A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14984" y="4882896"/>
            <a:ext cx="6190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 pedidos seguem “Em transporte” e 18 constam como cancelados.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7708392" y="3154680"/>
            <a:ext cx="3831336" cy="2331720"/>
          </a:xfrm>
          <a:prstGeom prst="roundRect">
            <a:avLst>
              <a:gd name="adj" fmla="val 4706"/>
            </a:avLst>
          </a:prstGeom>
          <a:solidFill>
            <a:srgbClr val="1B211D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01000" y="345643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DISTINÇÃO DE NEGÓCIO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8001000" y="3840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6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R$ 148.997,56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8001000" y="429768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líquido associado apenas aos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pedidos com status “Entregue”.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001000" y="4956048"/>
            <a:ext cx="3154680" cy="0"/>
          </a:xfrm>
          <a:prstGeom prst="line">
            <a:avLst/>
          </a:prstGeom>
          <a:noFill/>
          <a:ln w="10160">
            <a:solidFill>
              <a:srgbClr val="30373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01000" y="50749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total registrado e valor entregue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respondem a perguntas diferentes.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591616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analisada: 100 clientes • 100 produtos • 200 pedidos • 40 devoluções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98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ESCOPO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6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análise parte de perguntas de negócio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foco é entender a distribuição de pedidos e valores, além de identificar áreas de acompanhamento operacional.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1792" y="1627632"/>
            <a:ext cx="4800600" cy="4343400"/>
          </a:xfrm>
          <a:prstGeom prst="roundRect">
            <a:avLst>
              <a:gd name="adj" fmla="val 2526"/>
            </a:avLst>
          </a:prstGeom>
          <a:solidFill>
            <a:srgbClr val="141816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19019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spc="14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DO CASE</a:t>
            </a:r>
            <a:endParaRPr lang="en-US" sz="84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267712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6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Transformar registros operacionais em indicadores que facilitem o acompanhamento do desempenho comercial e das devoluções.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96112" y="3520440"/>
            <a:ext cx="4114800" cy="0"/>
          </a:xfrm>
          <a:prstGeom prst="line">
            <a:avLst/>
          </a:prstGeom>
          <a:noFill/>
          <a:ln w="10160">
            <a:solidFill>
              <a:srgbClr val="3037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37490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PERGUNTAS INVESTIGADAS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96112" y="4160520"/>
            <a:ext cx="73152" cy="73152"/>
          </a:xfrm>
          <a:prstGeom prst="ellipse">
            <a:avLst/>
          </a:prstGeom>
          <a:solidFill>
            <a:srgbClr val="50B466"/>
          </a:solidFill>
          <a:ln w="12700">
            <a:solidFill>
              <a:srgbClr val="50B466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0704" y="4087368"/>
            <a:ext cx="3904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Quais canais e categorias concentram o valor?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896112" y="4654296"/>
            <a:ext cx="73152" cy="73152"/>
          </a:xfrm>
          <a:prstGeom prst="ellipse">
            <a:avLst/>
          </a:prstGeom>
          <a:solidFill>
            <a:srgbClr val="F2CF3A"/>
          </a:solidFill>
          <a:ln w="12700">
            <a:solidFill>
              <a:srgbClr val="F2CF3A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60704" y="4581144"/>
            <a:ext cx="3904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os pedidos se distribuem por status e mês?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896112" y="5148072"/>
            <a:ext cx="73152" cy="73152"/>
          </a:xfrm>
          <a:prstGeom prst="ellipse">
            <a:avLst/>
          </a:prstGeom>
          <a:solidFill>
            <a:srgbClr val="438BF2"/>
          </a:solidFill>
          <a:ln w="12700">
            <a:solidFill>
              <a:srgbClr val="438BF2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0704" y="5074920"/>
            <a:ext cx="3904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Quais padrões aparecem nos registros de devolução?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5742432" y="1664208"/>
            <a:ext cx="5806440" cy="859536"/>
          </a:xfrm>
          <a:prstGeom prst="roundRect">
            <a:avLst>
              <a:gd name="adj" fmla="val 12766"/>
            </a:avLst>
          </a:prstGeom>
          <a:solidFill>
            <a:srgbClr val="1B211D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89320" y="1819656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10528" y="178308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Desempenho comercial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10528" y="20574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Volume, valor líquido e mix por canal, categoria e produto.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42432" y="2734056"/>
            <a:ext cx="5806440" cy="859536"/>
          </a:xfrm>
          <a:prstGeom prst="roundRect">
            <a:avLst>
              <a:gd name="adj" fmla="val 12766"/>
            </a:avLst>
          </a:prstGeom>
          <a:solidFill>
            <a:srgbClr val="1B211D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89320" y="2889504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C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10528" y="285292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 dos pedidos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10528" y="312724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Distribuição entre entregues, em transporte e cancelados.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742432" y="3803904"/>
            <a:ext cx="5806440" cy="859536"/>
          </a:xfrm>
          <a:prstGeom prst="roundRect">
            <a:avLst>
              <a:gd name="adj" fmla="val 12766"/>
            </a:avLst>
          </a:prstGeom>
          <a:solidFill>
            <a:srgbClr val="1B211D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89320" y="3959352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38B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510528" y="392277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Devoluções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10528" y="419709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Quantidade, motivo e status dos registros de devolução.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42432" y="4873752"/>
            <a:ext cx="5806440" cy="859536"/>
          </a:xfrm>
          <a:prstGeom prst="roundRect">
            <a:avLst>
              <a:gd name="adj" fmla="val 12766"/>
            </a:avLst>
          </a:prstGeom>
          <a:solidFill>
            <a:srgbClr val="1B211D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89320" y="5029200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4A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510528" y="499262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Exploração interativa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10528" y="526694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de filtros por período, canal, categoria e geografia.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98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/  FUNDAÇÃO DOS DADOS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6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relacional e tabelas principais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estrutura documenta o fluxo entre entidades e reduz a dependência de cruzamentos manuais por nome.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7240" y="1901952"/>
            <a:ext cx="2331720" cy="1051560"/>
          </a:xfrm>
          <a:prstGeom prst="roundRect">
            <a:avLst>
              <a:gd name="adj" fmla="val 10435"/>
            </a:avLst>
          </a:prstGeom>
          <a:solidFill>
            <a:srgbClr val="1B211D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01952"/>
            <a:ext cx="64008" cy="1051560"/>
          </a:xfrm>
          <a:prstGeom prst="rect">
            <a:avLst/>
          </a:prstGeom>
          <a:solidFill>
            <a:srgbClr val="50B466"/>
          </a:solidFill>
          <a:ln w="9525">
            <a:solidFill>
              <a:srgbClr val="50B4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78408" y="20848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4323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registros • ID_Cliente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3877056"/>
            <a:ext cx="2331720" cy="1051560"/>
          </a:xfrm>
          <a:prstGeom prst="roundRect">
            <a:avLst>
              <a:gd name="adj" fmla="val 10435"/>
            </a:avLst>
          </a:prstGeom>
          <a:solidFill>
            <a:srgbClr val="1B211D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877056"/>
            <a:ext cx="64008" cy="1051560"/>
          </a:xfrm>
          <a:prstGeom prst="rect">
            <a:avLst/>
          </a:prstGeom>
          <a:solidFill>
            <a:srgbClr val="438BF2"/>
          </a:solidFill>
          <a:ln w="9525">
            <a:solidFill>
              <a:srgbClr val="438B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78408" y="40599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Produtos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78408" y="44074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registros • ID_Produto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81728" y="2871216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1B211D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81728" y="2871216"/>
            <a:ext cx="64008" cy="1051560"/>
          </a:xfrm>
          <a:prstGeom prst="rect">
            <a:avLst/>
          </a:prstGeom>
          <a:solidFill>
            <a:srgbClr val="50B466"/>
          </a:solidFill>
          <a:ln w="9525">
            <a:solidFill>
              <a:srgbClr val="50B46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82896" y="30540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82896" y="34015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 registros • ID_Pedido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869680" y="2871216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1B211D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69680" y="2871216"/>
            <a:ext cx="64008" cy="1051560"/>
          </a:xfrm>
          <a:prstGeom prst="rect">
            <a:avLst/>
          </a:prstGeom>
          <a:solidFill>
            <a:srgbClr val="F2CF3A"/>
          </a:solidFill>
          <a:ln w="9525">
            <a:solidFill>
              <a:srgbClr val="F2CF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70848" y="30540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Devoluções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070848" y="34015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registros • ID_Devolucao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08960" y="2423160"/>
            <a:ext cx="731520" cy="0"/>
          </a:xfrm>
          <a:prstGeom prst="line">
            <a:avLst/>
          </a:prstGeom>
          <a:noFill/>
          <a:ln w="20320">
            <a:solidFill>
              <a:srgbClr val="50B4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0" y="2423160"/>
            <a:ext cx="0" cy="832104"/>
          </a:xfrm>
          <a:prstGeom prst="line">
            <a:avLst/>
          </a:prstGeom>
          <a:noFill/>
          <a:ln w="20320">
            <a:solidFill>
              <a:srgbClr val="50B4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0" y="3255264"/>
            <a:ext cx="841248" cy="0"/>
          </a:xfrm>
          <a:prstGeom prst="line">
            <a:avLst/>
          </a:prstGeom>
          <a:noFill/>
          <a:ln w="20320">
            <a:solidFill>
              <a:srgbClr val="50B4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08960" y="4398264"/>
            <a:ext cx="804672" cy="0"/>
          </a:xfrm>
          <a:prstGeom prst="line">
            <a:avLst/>
          </a:prstGeom>
          <a:noFill/>
          <a:ln w="20320">
            <a:solidFill>
              <a:srgbClr val="438B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13632" y="4398264"/>
            <a:ext cx="0" cy="-859536"/>
          </a:xfrm>
          <a:prstGeom prst="line">
            <a:avLst/>
          </a:prstGeom>
          <a:noFill/>
          <a:ln w="20320">
            <a:solidFill>
              <a:srgbClr val="438B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13632" y="3538728"/>
            <a:ext cx="768096" cy="0"/>
          </a:xfrm>
          <a:prstGeom prst="line">
            <a:avLst/>
          </a:prstGeom>
          <a:noFill/>
          <a:ln w="20320">
            <a:solidFill>
              <a:srgbClr val="438B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96328" y="3383280"/>
            <a:ext cx="1673352" cy="0"/>
          </a:xfrm>
          <a:prstGeom prst="line">
            <a:avLst/>
          </a:prstGeom>
          <a:noFill/>
          <a:ln w="20320">
            <a:solidFill>
              <a:srgbClr val="F2CF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29000" y="2304288"/>
            <a:ext cx="612648" cy="256032"/>
          </a:xfrm>
          <a:prstGeom prst="roundRect">
            <a:avLst>
              <a:gd name="adj" fmla="val 42857"/>
            </a:avLst>
          </a:prstGeom>
          <a:solidFill>
            <a:srgbClr val="050101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29000" y="2331720"/>
            <a:ext cx="612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474720" y="4242816"/>
            <a:ext cx="612648" cy="256032"/>
          </a:xfrm>
          <a:prstGeom prst="roundRect">
            <a:avLst>
              <a:gd name="adj" fmla="val 42857"/>
            </a:avLst>
          </a:prstGeom>
          <a:solidFill>
            <a:srgbClr val="050101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474720" y="4270248"/>
            <a:ext cx="612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38B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662672" y="3163824"/>
            <a:ext cx="612648" cy="256032"/>
          </a:xfrm>
          <a:prstGeom prst="roundRect">
            <a:avLst>
              <a:gd name="adj" fmla="val 42857"/>
            </a:avLst>
          </a:prstGeom>
          <a:solidFill>
            <a:srgbClr val="050101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62672" y="3191256"/>
            <a:ext cx="612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2C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1:N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804672" y="53218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Relacionamentos documentados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804672" y="560527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Clientes → Pedidos  •  Produtos → Pedidos  •  Pedidos → Devoluções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04672" y="594360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Chaves utilizadas: ID_Cliente, ID_Produto e ID_Pedido.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98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/  MÉTODO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6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Etapas de construção do projeto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Sequência utilizada para passar da base tabular à leitura gerencial dos resultados.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15568" y="2286000"/>
            <a:ext cx="9857232" cy="0"/>
          </a:xfrm>
          <a:prstGeom prst="line">
            <a:avLst/>
          </a:prstGeom>
          <a:noFill/>
          <a:ln w="17780">
            <a:solidFill>
              <a:srgbClr val="3037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85416"/>
            <a:ext cx="201168" cy="201168"/>
          </a:xfrm>
          <a:prstGeom prst="ellipse">
            <a:avLst/>
          </a:prstGeom>
          <a:solidFill>
            <a:srgbClr val="50B466"/>
          </a:solidFill>
          <a:ln w="12700">
            <a:solidFill>
              <a:srgbClr val="50B46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2578608"/>
            <a:ext cx="2148840" cy="2331720"/>
          </a:xfrm>
          <a:prstGeom prst="roundRect">
            <a:avLst>
              <a:gd name="adj" fmla="val 5106"/>
            </a:avLst>
          </a:prstGeom>
          <a:solidFill>
            <a:srgbClr val="141816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28163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0B4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273552"/>
            <a:ext cx="18013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Explorar a base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" y="3840480"/>
            <a:ext cx="1783080" cy="0"/>
          </a:xfrm>
          <a:prstGeom prst="line">
            <a:avLst/>
          </a:prstGeom>
          <a:noFill/>
          <a:ln w="8890">
            <a:solidFill>
              <a:srgbClr val="3037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4023360"/>
            <a:ext cx="1801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Mapear abas, colunas, tipos de campo e chaves.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044952" y="2185416"/>
            <a:ext cx="201168" cy="201168"/>
          </a:xfrm>
          <a:prstGeom prst="ellipse">
            <a:avLst/>
          </a:prstGeom>
          <a:solidFill>
            <a:srgbClr val="F2CF3A"/>
          </a:solidFill>
          <a:ln w="12700">
            <a:solidFill>
              <a:srgbClr val="F2CF3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35224" y="2578608"/>
            <a:ext cx="2148840" cy="2331720"/>
          </a:xfrm>
          <a:prstGeom prst="roundRect">
            <a:avLst>
              <a:gd name="adj" fmla="val 5106"/>
            </a:avLst>
          </a:prstGeom>
          <a:solidFill>
            <a:srgbClr val="141816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18104" y="28163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C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118104" y="3273552"/>
            <a:ext cx="18013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consistência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18104" y="3840480"/>
            <a:ext cx="1783080" cy="0"/>
          </a:xfrm>
          <a:prstGeom prst="line">
            <a:avLst/>
          </a:prstGeom>
          <a:noFill/>
          <a:ln w="8890">
            <a:solidFill>
              <a:srgbClr val="3037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18104" y="4023360"/>
            <a:ext cx="1801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Conferir preenchimento, IDs e categorias; identificar variações textuais.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358384" y="2185416"/>
            <a:ext cx="201168" cy="201168"/>
          </a:xfrm>
          <a:prstGeom prst="ellipse">
            <a:avLst/>
          </a:prstGeom>
          <a:solidFill>
            <a:srgbClr val="438BF2"/>
          </a:solidFill>
          <a:ln w="12700">
            <a:solidFill>
              <a:srgbClr val="438B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48656" y="2578608"/>
            <a:ext cx="2148840" cy="2331720"/>
          </a:xfrm>
          <a:prstGeom prst="roundRect">
            <a:avLst>
              <a:gd name="adj" fmla="val 5106"/>
            </a:avLst>
          </a:prstGeom>
          <a:solidFill>
            <a:srgbClr val="141816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31536" y="28163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8B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431536" y="3273552"/>
            <a:ext cx="18013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Modelar os dados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31536" y="3840480"/>
            <a:ext cx="1783080" cy="0"/>
          </a:xfrm>
          <a:prstGeom prst="line">
            <a:avLst/>
          </a:prstGeom>
          <a:noFill/>
          <a:ln w="8890">
            <a:solidFill>
              <a:srgbClr val="30373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31536" y="4023360"/>
            <a:ext cx="1801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Estruturar as relações entre clientes, produtos, pedidos e devoluções.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7671816" y="2185416"/>
            <a:ext cx="201168" cy="201168"/>
          </a:xfrm>
          <a:prstGeom prst="ellipse">
            <a:avLst/>
          </a:prstGeom>
          <a:solidFill>
            <a:srgbClr val="50B466"/>
          </a:solidFill>
          <a:ln w="12700">
            <a:solidFill>
              <a:srgbClr val="50B466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62088" y="2578608"/>
            <a:ext cx="2148840" cy="2331720"/>
          </a:xfrm>
          <a:prstGeom prst="roundRect">
            <a:avLst>
              <a:gd name="adj" fmla="val 5106"/>
            </a:avLst>
          </a:prstGeom>
          <a:solidFill>
            <a:srgbClr val="141816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44968" y="28163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0B4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744968" y="3273552"/>
            <a:ext cx="18013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indicadores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44968" y="3840480"/>
            <a:ext cx="1783080" cy="0"/>
          </a:xfrm>
          <a:prstGeom prst="line">
            <a:avLst/>
          </a:prstGeom>
          <a:noFill/>
          <a:ln w="8890">
            <a:solidFill>
              <a:srgbClr val="30373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44968" y="4023360"/>
            <a:ext cx="1801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volume, valor total registrado, pedidos entregues e devoluções.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9985248" y="2185416"/>
            <a:ext cx="201168" cy="201168"/>
          </a:xfrm>
          <a:prstGeom prst="ellipse">
            <a:avLst/>
          </a:prstGeom>
          <a:solidFill>
            <a:srgbClr val="A4AAA6"/>
          </a:solidFill>
          <a:ln w="12700">
            <a:solidFill>
              <a:srgbClr val="A4AAA6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75520" y="2578608"/>
            <a:ext cx="2148840" cy="2331720"/>
          </a:xfrm>
          <a:prstGeom prst="roundRect">
            <a:avLst>
              <a:gd name="adj" fmla="val 5106"/>
            </a:avLst>
          </a:prstGeom>
          <a:solidFill>
            <a:srgbClr val="141816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058400" y="28163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4AA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0" y="3273552"/>
            <a:ext cx="18013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Visualizar e interpretar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058400" y="3840480"/>
            <a:ext cx="1783080" cy="0"/>
          </a:xfrm>
          <a:prstGeom prst="line">
            <a:avLst/>
          </a:prstGeom>
          <a:noFill/>
          <a:ln w="8890">
            <a:solidFill>
              <a:srgbClr val="30373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058400" y="4023360"/>
            <a:ext cx="1801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Criar gráficos, cartões e filtros; converter padrões em oportunidades.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21792" y="5285232"/>
            <a:ext cx="10972800" cy="621792"/>
          </a:xfrm>
          <a:prstGeom prst="roundRect">
            <a:avLst>
              <a:gd name="adj" fmla="val 17647"/>
            </a:avLst>
          </a:prstGeom>
          <a:solidFill>
            <a:srgbClr val="1B211D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50392" y="545896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PRINCÍPIO DE ANÁLISE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2816352" y="54041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 claros + definição explícita + leitura contextualizada = decisões mais confiáveis.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98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/  PEDIDOS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6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status ajuda a separar realizado, pendente e cancelado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números abaixo consideram os 200 registros de pedidos e mantêm os três status originais.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1792" y="1664208"/>
            <a:ext cx="5349240" cy="4315968"/>
          </a:xfrm>
          <a:prstGeom prst="roundRect">
            <a:avLst>
              <a:gd name="adj" fmla="val 2542"/>
            </a:avLst>
          </a:prstGeom>
          <a:solidFill>
            <a:srgbClr val="141816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19202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 DE PEDIDOS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4871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67712" y="2546604"/>
            <a:ext cx="2450592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67712" y="2546604"/>
            <a:ext cx="1678656" cy="109728"/>
          </a:xfrm>
          <a:prstGeom prst="roundRect">
            <a:avLst>
              <a:gd name="adj" fmla="val 100000"/>
            </a:avLst>
          </a:prstGeom>
          <a:solidFill>
            <a:srgbClr val="50B466"/>
          </a:solidFill>
          <a:ln w="9525">
            <a:solidFill>
              <a:srgbClr val="50B4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24825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137  •  68,5%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2278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transporte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67712" y="3287268"/>
            <a:ext cx="2450592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67712" y="3287268"/>
            <a:ext cx="551383" cy="109728"/>
          </a:xfrm>
          <a:prstGeom prst="roundRect">
            <a:avLst>
              <a:gd name="adj" fmla="val 100000"/>
            </a:avLst>
          </a:prstGeom>
          <a:solidFill>
            <a:srgbClr val="F2CF3A"/>
          </a:solidFill>
          <a:ln w="9525">
            <a:solidFill>
              <a:srgbClr val="F2CF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32232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  •  22,5%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9684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Cancelado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67712" y="4027932"/>
            <a:ext cx="2450592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7712" y="4027932"/>
            <a:ext cx="220553" cy="109728"/>
          </a:xfrm>
          <a:prstGeom prst="roundRect">
            <a:avLst>
              <a:gd name="adj" fmla="val 100000"/>
            </a:avLst>
          </a:prstGeom>
          <a:solidFill>
            <a:srgbClr val="DA6B64"/>
          </a:solidFill>
          <a:ln w="9525">
            <a:solidFill>
              <a:srgbClr val="DA6B6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0600" y="396392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 •  9,0%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5074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de pedidos: 200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" y="5422392"/>
            <a:ext cx="4480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visão por status evita tratar todo o valor registrado como receita realizada.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99632" y="1664208"/>
            <a:ext cx="5349240" cy="4315968"/>
          </a:xfrm>
          <a:prstGeom prst="roundRect">
            <a:avLst>
              <a:gd name="adj" fmla="val 2542"/>
            </a:avLst>
          </a:prstGeom>
          <a:solidFill>
            <a:srgbClr val="1B211D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73952" y="1920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LÍQUIDO REGISTRADO POR STATUS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6473952" y="248716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Entregue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827264" y="2546604"/>
            <a:ext cx="2103120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27264" y="2546604"/>
            <a:ext cx="2103120" cy="109728"/>
          </a:xfrm>
          <a:prstGeom prst="roundRect">
            <a:avLst>
              <a:gd name="adj" fmla="val 100000"/>
            </a:avLst>
          </a:prstGeom>
          <a:solidFill>
            <a:srgbClr val="50B466"/>
          </a:solidFill>
          <a:ln w="9525">
            <a:solidFill>
              <a:srgbClr val="50B46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12680" y="24825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R$ 149,0 mil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6473952" y="322783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transporte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827264" y="3287268"/>
            <a:ext cx="2103120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27264" y="3287268"/>
            <a:ext cx="712300" cy="109728"/>
          </a:xfrm>
          <a:prstGeom prst="roundRect">
            <a:avLst>
              <a:gd name="adj" fmla="val 100000"/>
            </a:avLst>
          </a:prstGeom>
          <a:solidFill>
            <a:srgbClr val="F2CF3A"/>
          </a:solidFill>
          <a:ln w="9525">
            <a:solidFill>
              <a:srgbClr val="F2CF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12680" y="32232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R$ 50,5 mil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6473952" y="396849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Cancelado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827264" y="4027932"/>
            <a:ext cx="2103120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27264" y="4027932"/>
            <a:ext cx="302884" cy="109728"/>
          </a:xfrm>
          <a:prstGeom prst="roundRect">
            <a:avLst>
              <a:gd name="adj" fmla="val 100000"/>
            </a:avLst>
          </a:prstGeom>
          <a:solidFill>
            <a:srgbClr val="DA6B64"/>
          </a:solidFill>
          <a:ln w="9525">
            <a:solidFill>
              <a:srgbClr val="DA6B6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12680" y="39639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R$ 21,5 mil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73952" y="4690872"/>
            <a:ext cx="4681728" cy="0"/>
          </a:xfrm>
          <a:prstGeom prst="line">
            <a:avLst/>
          </a:prstGeom>
          <a:noFill/>
          <a:ln w="8890">
            <a:solidFill>
              <a:srgbClr val="30373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73952" y="4901184"/>
            <a:ext cx="2880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6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R$ 220.919,30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9345168" y="4910328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líquido registrado</a:t>
            </a:r>
            <a:endParaRPr lang="en-US" sz="870" dirty="0"/>
          </a:p>
          <a:p>
            <a:pPr algn="l" indent="0" marL="0">
              <a:buNone/>
            </a:pPr>
            <a:r>
              <a:rPr lang="en-US" sz="87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(considera todos os status)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98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/  TENDÊNCIA TEMPORAL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6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valor registrado varia ao longo dos meses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Soma de Valor_Liquido por mês, considerando todos os status dos pedidos. Valores em R$ mil.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1792" y="1664208"/>
            <a:ext cx="10972800" cy="4370832"/>
          </a:xfrm>
          <a:prstGeom prst="roundRect">
            <a:avLst>
              <a:gd name="adj" fmla="val 2510"/>
            </a:avLst>
          </a:prstGeom>
          <a:solidFill>
            <a:srgbClr val="141816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4745736"/>
            <a:ext cx="10287000" cy="0"/>
          </a:xfrm>
          <a:prstGeom prst="line">
            <a:avLst/>
          </a:prstGeom>
          <a:noFill/>
          <a:ln w="10160">
            <a:solidFill>
              <a:srgbClr val="3037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2860598"/>
            <a:ext cx="548640" cy="1885138"/>
          </a:xfrm>
          <a:prstGeom prst="roundRect">
            <a:avLst>
              <a:gd name="adj" fmla="val 20000"/>
            </a:avLst>
          </a:prstGeom>
          <a:solidFill>
            <a:srgbClr val="469F4A"/>
          </a:solidFill>
          <a:ln w="9525">
            <a:solidFill>
              <a:srgbClr val="469F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10512" y="261371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R$ 25,2k</a:t>
            </a:r>
            <a:endParaRPr lang="en-US" sz="740" dirty="0"/>
          </a:p>
        </p:txBody>
      </p:sp>
      <p:sp>
        <p:nvSpPr>
          <p:cNvPr id="9" name="Text 7"/>
          <p:cNvSpPr txBox="1"/>
          <p:nvPr/>
        </p:nvSpPr>
        <p:spPr>
          <a:xfrm>
            <a:off x="1792224" y="4846320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2788920" y="3130117"/>
            <a:ext cx="548640" cy="1615619"/>
          </a:xfrm>
          <a:prstGeom prst="roundRect">
            <a:avLst>
              <a:gd name="adj" fmla="val 20000"/>
            </a:avLst>
          </a:prstGeom>
          <a:solidFill>
            <a:srgbClr val="469F4A"/>
          </a:solidFill>
          <a:ln w="9525">
            <a:solidFill>
              <a:srgbClr val="469F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79192" y="2883229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R$ 21,6k</a:t>
            </a:r>
            <a:endParaRPr lang="en-US" sz="740" dirty="0"/>
          </a:p>
        </p:txBody>
      </p:sp>
      <p:sp>
        <p:nvSpPr>
          <p:cNvPr id="12" name="Text 10"/>
          <p:cNvSpPr txBox="1"/>
          <p:nvPr/>
        </p:nvSpPr>
        <p:spPr>
          <a:xfrm>
            <a:off x="2660904" y="4846320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Fev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3657600" y="2850865"/>
            <a:ext cx="548640" cy="1894871"/>
          </a:xfrm>
          <a:prstGeom prst="roundRect">
            <a:avLst>
              <a:gd name="adj" fmla="val 20000"/>
            </a:avLst>
          </a:prstGeom>
          <a:solidFill>
            <a:srgbClr val="469F4A"/>
          </a:solidFill>
          <a:ln w="9525">
            <a:solidFill>
              <a:srgbClr val="469F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47872" y="2603977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R$ 25,3k</a:t>
            </a:r>
            <a:endParaRPr lang="en-US" sz="740" dirty="0"/>
          </a:p>
        </p:txBody>
      </p:sp>
      <p:sp>
        <p:nvSpPr>
          <p:cNvPr id="15" name="Text 13"/>
          <p:cNvSpPr txBox="1"/>
          <p:nvPr/>
        </p:nvSpPr>
        <p:spPr>
          <a:xfrm>
            <a:off x="3529584" y="4846320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4526280" y="3258887"/>
            <a:ext cx="548640" cy="1486849"/>
          </a:xfrm>
          <a:prstGeom prst="roundRect">
            <a:avLst>
              <a:gd name="adj" fmla="val 20000"/>
            </a:avLst>
          </a:prstGeom>
          <a:solidFill>
            <a:srgbClr val="469F4A"/>
          </a:solidFill>
          <a:ln w="9525">
            <a:solidFill>
              <a:srgbClr val="469F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16552" y="3011999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R$ 19,9k</a:t>
            </a:r>
            <a:endParaRPr lang="en-US" sz="740" dirty="0"/>
          </a:p>
        </p:txBody>
      </p:sp>
      <p:sp>
        <p:nvSpPr>
          <p:cNvPr id="18" name="Text 16"/>
          <p:cNvSpPr txBox="1"/>
          <p:nvPr/>
        </p:nvSpPr>
        <p:spPr>
          <a:xfrm>
            <a:off x="4398264" y="4846320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5394960" y="3288085"/>
            <a:ext cx="548640" cy="1457651"/>
          </a:xfrm>
          <a:prstGeom prst="roundRect">
            <a:avLst>
              <a:gd name="adj" fmla="val 20000"/>
            </a:avLst>
          </a:prstGeom>
          <a:solidFill>
            <a:srgbClr val="469F4A"/>
          </a:solidFill>
          <a:ln w="9525">
            <a:solidFill>
              <a:srgbClr val="469F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85232" y="3041197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R$ 19,5k</a:t>
            </a:r>
            <a:endParaRPr lang="en-US" sz="740" dirty="0"/>
          </a:p>
        </p:txBody>
      </p:sp>
      <p:sp>
        <p:nvSpPr>
          <p:cNvPr id="21" name="Text 19"/>
          <p:cNvSpPr txBox="1"/>
          <p:nvPr/>
        </p:nvSpPr>
        <p:spPr>
          <a:xfrm>
            <a:off x="5266944" y="4846320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6263640" y="2564126"/>
            <a:ext cx="548640" cy="2181610"/>
          </a:xfrm>
          <a:prstGeom prst="roundRect">
            <a:avLst>
              <a:gd name="adj" fmla="val 20000"/>
            </a:avLst>
          </a:prstGeom>
          <a:solidFill>
            <a:srgbClr val="50B466"/>
          </a:solidFill>
          <a:ln w="9525">
            <a:solidFill>
              <a:srgbClr val="50B46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53912" y="2317238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R$ 29,1k</a:t>
            </a:r>
            <a:endParaRPr lang="en-US" sz="740" dirty="0"/>
          </a:p>
        </p:txBody>
      </p:sp>
      <p:sp>
        <p:nvSpPr>
          <p:cNvPr id="24" name="Text 22"/>
          <p:cNvSpPr txBox="1"/>
          <p:nvPr/>
        </p:nvSpPr>
        <p:spPr>
          <a:xfrm>
            <a:off x="6135624" y="4846320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7132320" y="2967657"/>
            <a:ext cx="548640" cy="1778079"/>
          </a:xfrm>
          <a:prstGeom prst="roundRect">
            <a:avLst>
              <a:gd name="adj" fmla="val 20000"/>
            </a:avLst>
          </a:prstGeom>
          <a:solidFill>
            <a:srgbClr val="469F4A"/>
          </a:solidFill>
          <a:ln w="9525">
            <a:solidFill>
              <a:srgbClr val="469F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22592" y="2720769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R$ 23,8k</a:t>
            </a:r>
            <a:endParaRPr lang="en-US" sz="740" dirty="0"/>
          </a:p>
        </p:txBody>
      </p:sp>
      <p:sp>
        <p:nvSpPr>
          <p:cNvPr id="27" name="Text 25"/>
          <p:cNvSpPr txBox="1"/>
          <p:nvPr/>
        </p:nvSpPr>
        <p:spPr>
          <a:xfrm>
            <a:off x="7004304" y="4846320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8001000" y="3217711"/>
            <a:ext cx="548640" cy="1528025"/>
          </a:xfrm>
          <a:prstGeom prst="roundRect">
            <a:avLst>
              <a:gd name="adj" fmla="val 20000"/>
            </a:avLst>
          </a:prstGeom>
          <a:solidFill>
            <a:srgbClr val="469F4A"/>
          </a:solidFill>
          <a:ln w="9525">
            <a:solidFill>
              <a:srgbClr val="469F4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91272" y="2970823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R$ 20,4k</a:t>
            </a:r>
            <a:endParaRPr lang="en-US" sz="740" dirty="0"/>
          </a:p>
        </p:txBody>
      </p:sp>
      <p:sp>
        <p:nvSpPr>
          <p:cNvPr id="30" name="Text 28"/>
          <p:cNvSpPr txBox="1"/>
          <p:nvPr/>
        </p:nvSpPr>
        <p:spPr>
          <a:xfrm>
            <a:off x="7872984" y="4846320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Ago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8869680" y="3389155"/>
            <a:ext cx="548640" cy="1356581"/>
          </a:xfrm>
          <a:prstGeom prst="roundRect">
            <a:avLst>
              <a:gd name="adj" fmla="val 20000"/>
            </a:avLst>
          </a:prstGeom>
          <a:solidFill>
            <a:srgbClr val="469F4A"/>
          </a:solidFill>
          <a:ln w="9525">
            <a:solidFill>
              <a:srgbClr val="469F4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759952" y="3142267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R$ 18,1k</a:t>
            </a:r>
            <a:endParaRPr lang="en-US" sz="740" dirty="0"/>
          </a:p>
        </p:txBody>
      </p:sp>
      <p:sp>
        <p:nvSpPr>
          <p:cNvPr id="33" name="Text 31"/>
          <p:cNvSpPr txBox="1"/>
          <p:nvPr/>
        </p:nvSpPr>
        <p:spPr>
          <a:xfrm>
            <a:off x="8741664" y="4846320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9738360" y="3390652"/>
            <a:ext cx="548640" cy="1355084"/>
          </a:xfrm>
          <a:prstGeom prst="roundRect">
            <a:avLst>
              <a:gd name="adj" fmla="val 20000"/>
            </a:avLst>
          </a:prstGeom>
          <a:solidFill>
            <a:srgbClr val="469F4A"/>
          </a:solidFill>
          <a:ln w="9525">
            <a:solidFill>
              <a:srgbClr val="469F4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28632" y="314376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R$ 18,1k</a:t>
            </a:r>
            <a:endParaRPr lang="en-US" sz="740" dirty="0"/>
          </a:p>
        </p:txBody>
      </p:sp>
      <p:sp>
        <p:nvSpPr>
          <p:cNvPr id="36" name="Text 34"/>
          <p:cNvSpPr txBox="1"/>
          <p:nvPr/>
        </p:nvSpPr>
        <p:spPr>
          <a:xfrm>
            <a:off x="9610344" y="4846320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Out*</a:t>
            </a:r>
            <a:endParaRPr lang="en-US" sz="830" dirty="0"/>
          </a:p>
        </p:txBody>
      </p:sp>
      <p:sp>
        <p:nvSpPr>
          <p:cNvPr id="37" name="Text 35"/>
          <p:cNvSpPr txBox="1"/>
          <p:nvPr/>
        </p:nvSpPr>
        <p:spPr>
          <a:xfrm>
            <a:off x="914400" y="550468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Maior valor mensal registrado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3017520" y="5468112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JUNHO  •  R$ 29.136,70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812280" y="548640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2C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 Outubro vai até 26/10/2026; é um mês parcial na base.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98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 /  MIX COMERCIAL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6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Site lidera por canal; Informática concentra valor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Comparações calculadas sobre o valor líquido de todos os pedidos, sem excluir status.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1792" y="1664208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141816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1938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REGISTRADO POR CANAL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57860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30552" y="2638044"/>
            <a:ext cx="2267712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30552" y="2638044"/>
            <a:ext cx="2267712" cy="109728"/>
          </a:xfrm>
          <a:prstGeom prst="roundRect">
            <a:avLst>
              <a:gd name="adj" fmla="val 100000"/>
            </a:avLst>
          </a:prstGeom>
          <a:solidFill>
            <a:srgbClr val="50B466"/>
          </a:solidFill>
          <a:ln w="9525">
            <a:solidFill>
              <a:srgbClr val="50B4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25740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R$ 116,9 mil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3467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30552" y="3406140"/>
            <a:ext cx="2267712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30552" y="3406140"/>
            <a:ext cx="1086174" cy="109728"/>
          </a:xfrm>
          <a:prstGeom prst="roundRect">
            <a:avLst>
              <a:gd name="adj" fmla="val 100000"/>
            </a:avLst>
          </a:prstGeom>
          <a:solidFill>
            <a:srgbClr val="438BF2"/>
          </a:solidFill>
          <a:ln w="9525">
            <a:solidFill>
              <a:srgbClr val="438B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80560" y="33421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R$ 56,0 mil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41148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Loja Física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30552" y="4174236"/>
            <a:ext cx="2267712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30552" y="4174236"/>
            <a:ext cx="933145" cy="109728"/>
          </a:xfrm>
          <a:prstGeom prst="roundRect">
            <a:avLst>
              <a:gd name="adj" fmla="val 100000"/>
            </a:avLst>
          </a:prstGeom>
          <a:solidFill>
            <a:srgbClr val="F2CF3A"/>
          </a:solidFill>
          <a:ln w="9525">
            <a:solidFill>
              <a:srgbClr val="F2CF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80560" y="41102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R$ 48,1 mil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96112" y="4828032"/>
            <a:ext cx="4754880" cy="0"/>
          </a:xfrm>
          <a:prstGeom prst="line">
            <a:avLst/>
          </a:prstGeom>
          <a:noFill/>
          <a:ln w="8890">
            <a:solidFill>
              <a:srgbClr val="3037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6112" y="507492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 pedidos via Site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542239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49,5% do volume total de pedidos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99632" y="1664208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1B211D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3952" y="19385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REGISTRADO POR CATEGORIA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24597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Informática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754112" y="2519172"/>
            <a:ext cx="2130552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54112" y="2519172"/>
            <a:ext cx="2130552" cy="109728"/>
          </a:xfrm>
          <a:prstGeom prst="roundRect">
            <a:avLst>
              <a:gd name="adj" fmla="val 100000"/>
            </a:avLst>
          </a:prstGeom>
          <a:solidFill>
            <a:srgbClr val="50B466"/>
          </a:solidFill>
          <a:ln w="9525">
            <a:solidFill>
              <a:srgbClr val="50B46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66960" y="245516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R$ 133,2 mil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6473952" y="31272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Móveis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754112" y="3186684"/>
            <a:ext cx="2130552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54112" y="3186684"/>
            <a:ext cx="699843" cy="109728"/>
          </a:xfrm>
          <a:prstGeom prst="roundRect">
            <a:avLst>
              <a:gd name="adj" fmla="val 100000"/>
            </a:avLst>
          </a:prstGeom>
          <a:solidFill>
            <a:srgbClr val="438BF2"/>
          </a:solidFill>
          <a:ln w="9525">
            <a:solidFill>
              <a:srgbClr val="438BF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966960" y="312267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R$ 43,7 mil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6473952" y="3794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Eletrônicos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754112" y="3854196"/>
            <a:ext cx="2130552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54112" y="3854196"/>
            <a:ext cx="653650" cy="109728"/>
          </a:xfrm>
          <a:prstGeom prst="roundRect">
            <a:avLst>
              <a:gd name="adj" fmla="val 100000"/>
            </a:avLst>
          </a:prstGeom>
          <a:solidFill>
            <a:srgbClr val="F2CF3A"/>
          </a:solidFill>
          <a:ln w="9525">
            <a:solidFill>
              <a:srgbClr val="F2CF3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966960" y="37901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R$ 40,9 mil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6473952" y="4462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Acessórios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754112" y="4521708"/>
            <a:ext cx="2130552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54112" y="4521708"/>
            <a:ext cx="50379" cy="109728"/>
          </a:xfrm>
          <a:prstGeom prst="roundRect">
            <a:avLst>
              <a:gd name="adj" fmla="val 217805"/>
            </a:avLst>
          </a:prstGeom>
          <a:solidFill>
            <a:srgbClr val="A4AAA6"/>
          </a:solidFill>
          <a:ln w="9525">
            <a:solidFill>
              <a:srgbClr val="A4AAA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966960" y="44577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R$ 3,1 mil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473952" y="532180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Informática representa 60,3% do valor líquido registrado.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98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 /  RECORTES DE DESEMPENHO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6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Cidade e produto ajudam a localizar concentração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recortes permitem orientar investigações mais específicas, sem afirmar causalidade a partir dos totais.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1792" y="1664208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141816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19202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PEDIDOS POR CIDADE  /  TOP 5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47802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Campinas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340864" y="2537460"/>
            <a:ext cx="2423160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40864" y="2537460"/>
            <a:ext cx="2423160" cy="109728"/>
          </a:xfrm>
          <a:prstGeom prst="roundRect">
            <a:avLst>
              <a:gd name="adj" fmla="val 100000"/>
            </a:avLst>
          </a:prstGeom>
          <a:solidFill>
            <a:srgbClr val="50B466"/>
          </a:solidFill>
          <a:ln w="9525">
            <a:solidFill>
              <a:srgbClr val="50B4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24734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03580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Mogi das Cruzes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340864" y="3095244"/>
            <a:ext cx="2423160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40864" y="3095244"/>
            <a:ext cx="2035454" cy="109728"/>
          </a:xfrm>
          <a:prstGeom prst="roundRect">
            <a:avLst>
              <a:gd name="adj" fmla="val 100000"/>
            </a:avLst>
          </a:prstGeom>
          <a:solidFill>
            <a:srgbClr val="469F4A"/>
          </a:solidFill>
          <a:ln w="9525">
            <a:solidFill>
              <a:srgbClr val="469F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303123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59359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Mauá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340864" y="3653028"/>
            <a:ext cx="2423160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40864" y="3653028"/>
            <a:ext cx="2035454" cy="109728"/>
          </a:xfrm>
          <a:prstGeom prst="roundRect">
            <a:avLst>
              <a:gd name="adj" fmla="val 100000"/>
            </a:avLst>
          </a:prstGeom>
          <a:solidFill>
            <a:srgbClr val="438BF2"/>
          </a:solidFill>
          <a:ln w="9525">
            <a:solidFill>
              <a:srgbClr val="438B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35890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415137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Santo André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2340864" y="4210812"/>
            <a:ext cx="2423160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0864" y="4210812"/>
            <a:ext cx="1938528" cy="109728"/>
          </a:xfrm>
          <a:prstGeom prst="roundRect">
            <a:avLst>
              <a:gd name="adj" fmla="val 100000"/>
            </a:avLst>
          </a:prstGeom>
          <a:solidFill>
            <a:srgbClr val="F2CF3A"/>
          </a:solidFill>
          <a:ln w="9525">
            <a:solidFill>
              <a:srgbClr val="F2CF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414680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70916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Santos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340864" y="4768596"/>
            <a:ext cx="2423160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40864" y="4768596"/>
            <a:ext cx="1260043" cy="109728"/>
          </a:xfrm>
          <a:prstGeom prst="roundRect">
            <a:avLst>
              <a:gd name="adj" fmla="val 100000"/>
            </a:avLst>
          </a:prstGeom>
          <a:solidFill>
            <a:srgbClr val="A4AAA6"/>
          </a:solidFill>
          <a:ln w="9525">
            <a:solidFill>
              <a:srgbClr val="A4AA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46320" y="47045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896112" y="5532120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Campinas tem o maior volume registrado: 25 pedidos.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99632" y="1664208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1B211D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73952" y="19202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PRODUTOS POR VALOR LÍQUIDO  /  TOP 5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6473952" y="2478024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010144" y="2537460"/>
            <a:ext cx="1993392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10144" y="2537460"/>
            <a:ext cx="1993392" cy="109728"/>
          </a:xfrm>
          <a:prstGeom prst="roundRect">
            <a:avLst>
              <a:gd name="adj" fmla="val 100000"/>
            </a:avLst>
          </a:prstGeom>
          <a:solidFill>
            <a:srgbClr val="50B466"/>
          </a:solidFill>
          <a:ln w="9525">
            <a:solidFill>
              <a:srgbClr val="50B46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085832" y="2473452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R$ 35,8 mil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6473952" y="3035808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8010144" y="3095244"/>
            <a:ext cx="1993392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10144" y="3095244"/>
            <a:ext cx="1572748" cy="109728"/>
          </a:xfrm>
          <a:prstGeom prst="roundRect">
            <a:avLst>
              <a:gd name="adj" fmla="val 100000"/>
            </a:avLst>
          </a:prstGeom>
          <a:solidFill>
            <a:srgbClr val="469F4A"/>
          </a:solidFill>
          <a:ln w="9525">
            <a:solidFill>
              <a:srgbClr val="469F4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085832" y="303123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R$ 28,2 mil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6473952" y="359359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Mesa Digitalizadora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8010144" y="3653028"/>
            <a:ext cx="1993392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10144" y="3653028"/>
            <a:ext cx="892407" cy="109728"/>
          </a:xfrm>
          <a:prstGeom prst="roundRect">
            <a:avLst>
              <a:gd name="adj" fmla="val 100000"/>
            </a:avLst>
          </a:prstGeom>
          <a:solidFill>
            <a:srgbClr val="438BF2"/>
          </a:solidFill>
          <a:ln w="9525">
            <a:solidFill>
              <a:srgbClr val="438BF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085832" y="3589020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R$ 16,0 mil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6473952" y="4151376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Cadeira Escritório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8010144" y="4210812"/>
            <a:ext cx="1993392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10144" y="4210812"/>
            <a:ext cx="721951" cy="109728"/>
          </a:xfrm>
          <a:prstGeom prst="roundRect">
            <a:avLst>
              <a:gd name="adj" fmla="val 100000"/>
            </a:avLst>
          </a:prstGeom>
          <a:solidFill>
            <a:srgbClr val="F2CF3A"/>
          </a:solidFill>
          <a:ln w="9525">
            <a:solidFill>
              <a:srgbClr val="F2CF3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085832" y="4146804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R$ 13,0 mil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6473952" y="470916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Mesa Escritório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8010144" y="4768596"/>
            <a:ext cx="1993392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10144" y="4768596"/>
            <a:ext cx="670782" cy="109728"/>
          </a:xfrm>
          <a:prstGeom prst="roundRect">
            <a:avLst>
              <a:gd name="adj" fmla="val 100000"/>
            </a:avLst>
          </a:prstGeom>
          <a:solidFill>
            <a:srgbClr val="A4AAA6"/>
          </a:solidFill>
          <a:ln w="9525">
            <a:solidFill>
              <a:srgbClr val="A4AAA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085832" y="47045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R$ 12,0 mil</a:t>
            </a:r>
            <a:endParaRPr lang="en-US" sz="750" dirty="0"/>
          </a:p>
        </p:txBody>
      </p:sp>
      <p:sp>
        <p:nvSpPr>
          <p:cNvPr id="50" name="Text 48"/>
          <p:cNvSpPr txBox="1"/>
          <p:nvPr/>
        </p:nvSpPr>
        <p:spPr>
          <a:xfrm>
            <a:off x="6473952" y="5532120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Agrupamento realizado após remover espaços extras nos nomes.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98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 /  DEVOLUÇÕES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6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análise aponta volume relevante e pendências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Taxa de pedidos com devolução calculada por IDs únicos de pedido presentes na tabela de devoluções.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1792" y="1664208"/>
            <a:ext cx="2423160" cy="768096"/>
          </a:xfrm>
          <a:prstGeom prst="roundRect">
            <a:avLst>
              <a:gd name="adj" fmla="val 14286"/>
            </a:avLst>
          </a:prstGeom>
          <a:solidFill>
            <a:srgbClr val="141816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1764792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spc="70" kern="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DE DEVOLUÇÃO</a:t>
            </a:r>
            <a:endParaRPr lang="en-US" sz="71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1956816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0B4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240280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 dos pedidos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182112" y="1664208"/>
            <a:ext cx="2423160" cy="768096"/>
          </a:xfrm>
          <a:prstGeom prst="roundRect">
            <a:avLst>
              <a:gd name="adj" fmla="val 14286"/>
            </a:avLst>
          </a:prstGeom>
          <a:solidFill>
            <a:srgbClr val="141816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19272" y="1764792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spc="70" kern="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UNIDADES DEVOLVIDAS</a:t>
            </a:r>
            <a:endParaRPr lang="en-US" sz="710" dirty="0"/>
          </a:p>
        </p:txBody>
      </p:sp>
      <p:sp>
        <p:nvSpPr>
          <p:cNvPr id="11" name="Text 9"/>
          <p:cNvSpPr txBox="1"/>
          <p:nvPr/>
        </p:nvSpPr>
        <p:spPr>
          <a:xfrm>
            <a:off x="3319272" y="1956816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C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319272" y="2240280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Soma da quantidade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742432" y="1664208"/>
            <a:ext cx="2423160" cy="768096"/>
          </a:xfrm>
          <a:prstGeom prst="roundRect">
            <a:avLst>
              <a:gd name="adj" fmla="val 14286"/>
            </a:avLst>
          </a:prstGeom>
          <a:solidFill>
            <a:srgbClr val="141816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79592" y="1764792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spc="70" kern="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TAXA DE PEDIDOS</a:t>
            </a:r>
            <a:endParaRPr lang="en-US" sz="710" dirty="0"/>
          </a:p>
        </p:txBody>
      </p:sp>
      <p:sp>
        <p:nvSpPr>
          <p:cNvPr id="15" name="Text 13"/>
          <p:cNvSpPr txBox="1"/>
          <p:nvPr/>
        </p:nvSpPr>
        <p:spPr>
          <a:xfrm>
            <a:off x="5879592" y="1956816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38B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20%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879592" y="2240280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÷ 200 pedidos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8302752" y="1664208"/>
            <a:ext cx="3246120" cy="768096"/>
          </a:xfrm>
          <a:prstGeom prst="roundRect">
            <a:avLst>
              <a:gd name="adj" fmla="val 14286"/>
            </a:avLst>
          </a:prstGeom>
          <a:solidFill>
            <a:srgbClr val="141816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39912" y="1764792"/>
            <a:ext cx="2971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spc="70" kern="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ANÁLISE</a:t>
            </a:r>
            <a:endParaRPr lang="en-US" sz="710" dirty="0"/>
          </a:p>
        </p:txBody>
      </p:sp>
      <p:sp>
        <p:nvSpPr>
          <p:cNvPr id="19" name="Text 17"/>
          <p:cNvSpPr txBox="1"/>
          <p:nvPr/>
        </p:nvSpPr>
        <p:spPr>
          <a:xfrm>
            <a:off x="8439912" y="1956816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A6B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439912" y="2240280"/>
            <a:ext cx="2971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32,5% dos registros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21792" y="2715768"/>
            <a:ext cx="5349240" cy="3218688"/>
          </a:xfrm>
          <a:prstGeom prst="roundRect">
            <a:avLst>
              <a:gd name="adj" fmla="val 3409"/>
            </a:avLst>
          </a:prstGeom>
          <a:solidFill>
            <a:srgbClr val="141816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6112" y="29443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POR MOTIVO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338328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Produto com defeito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23744" y="3442716"/>
            <a:ext cx="2423160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3744" y="3442716"/>
            <a:ext cx="2423160" cy="109728"/>
          </a:xfrm>
          <a:prstGeom prst="roundRect">
            <a:avLst>
              <a:gd name="adj" fmla="val 100000"/>
            </a:avLst>
          </a:prstGeom>
          <a:solidFill>
            <a:srgbClr val="50B466"/>
          </a:solidFill>
          <a:ln w="9525">
            <a:solidFill>
              <a:srgbClr val="50B46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29200" y="33787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896112" y="379476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Dano no transporte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23744" y="3854196"/>
            <a:ext cx="2423160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3744" y="3854196"/>
            <a:ext cx="2423160" cy="109728"/>
          </a:xfrm>
          <a:prstGeom prst="roundRect">
            <a:avLst>
              <a:gd name="adj" fmla="val 100000"/>
            </a:avLst>
          </a:prstGeom>
          <a:solidFill>
            <a:srgbClr val="F2CF3A"/>
          </a:solidFill>
          <a:ln w="9525">
            <a:solidFill>
              <a:srgbClr val="F2CF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29200" y="37901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896112" y="420624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Desistência do cliente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523744" y="4265676"/>
            <a:ext cx="2423160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23744" y="4265676"/>
            <a:ext cx="2423160" cy="109728"/>
          </a:xfrm>
          <a:prstGeom prst="roundRect">
            <a:avLst>
              <a:gd name="adj" fmla="val 100000"/>
            </a:avLst>
          </a:prstGeom>
          <a:solidFill>
            <a:srgbClr val="438BF2"/>
          </a:solidFill>
          <a:ln w="9525">
            <a:solidFill>
              <a:srgbClr val="438BF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29200" y="42016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896112" y="461772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Produto diferente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523744" y="4677156"/>
            <a:ext cx="2423160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23744" y="4677156"/>
            <a:ext cx="2423160" cy="109728"/>
          </a:xfrm>
          <a:prstGeom prst="roundRect">
            <a:avLst>
              <a:gd name="adj" fmla="val 100000"/>
            </a:avLst>
          </a:prstGeom>
          <a:solidFill>
            <a:srgbClr val="A4AAA6"/>
          </a:solidFill>
          <a:ln w="9525">
            <a:solidFill>
              <a:srgbClr val="A4AAA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029200" y="46131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896112" y="502920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Embalagem danificada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523744" y="5088636"/>
            <a:ext cx="2423160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23744" y="5088636"/>
            <a:ext cx="2423160" cy="109728"/>
          </a:xfrm>
          <a:prstGeom prst="roundRect">
            <a:avLst>
              <a:gd name="adj" fmla="val 100000"/>
            </a:avLst>
          </a:prstGeom>
          <a:solidFill>
            <a:srgbClr val="469F4A"/>
          </a:solidFill>
          <a:ln w="9525">
            <a:solidFill>
              <a:srgbClr val="469F4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029200" y="50246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199632" y="2715768"/>
            <a:ext cx="5349240" cy="3218688"/>
          </a:xfrm>
          <a:prstGeom prst="roundRect">
            <a:avLst>
              <a:gd name="adj" fmla="val 3409"/>
            </a:avLst>
          </a:prstGeom>
          <a:solidFill>
            <a:srgbClr val="1B211D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73952" y="29443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DOS REGISTROS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6473952" y="34838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Estornado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708392" y="3543300"/>
            <a:ext cx="2660904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08392" y="3543300"/>
            <a:ext cx="2660904" cy="109728"/>
          </a:xfrm>
          <a:prstGeom prst="roundRect">
            <a:avLst>
              <a:gd name="adj" fmla="val 100000"/>
            </a:avLst>
          </a:prstGeom>
          <a:solidFill>
            <a:srgbClr val="F2CF3A"/>
          </a:solidFill>
          <a:ln w="9525">
            <a:solidFill>
              <a:srgbClr val="F2CF3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451592" y="34792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 •  35%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6473952" y="41696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Concluído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708392" y="4229100"/>
            <a:ext cx="2660904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08392" y="4229100"/>
            <a:ext cx="2470839" cy="109728"/>
          </a:xfrm>
          <a:prstGeom prst="roundRect">
            <a:avLst>
              <a:gd name="adj" fmla="val 100000"/>
            </a:avLst>
          </a:prstGeom>
          <a:solidFill>
            <a:srgbClr val="50B466"/>
          </a:solidFill>
          <a:ln w="9525">
            <a:solidFill>
              <a:srgbClr val="50B46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451592" y="41650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 •  32,5%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6473952" y="48554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análise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708392" y="4914900"/>
            <a:ext cx="2660904" cy="109728"/>
          </a:xfrm>
          <a:prstGeom prst="roundRect">
            <a:avLst>
              <a:gd name="adj" fmla="val 100000"/>
            </a:avLst>
          </a:prstGeom>
          <a:solidFill>
            <a:srgbClr val="202521"/>
          </a:solidFill>
          <a:ln w="9525">
            <a:solidFill>
              <a:srgbClr val="20252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08392" y="4914900"/>
            <a:ext cx="2470839" cy="109728"/>
          </a:xfrm>
          <a:prstGeom prst="roundRect">
            <a:avLst>
              <a:gd name="adj" fmla="val 100000"/>
            </a:avLst>
          </a:prstGeom>
          <a:solidFill>
            <a:srgbClr val="DA6B64"/>
          </a:solidFill>
          <a:ln w="9525">
            <a:solidFill>
              <a:srgbClr val="DA6B6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451592" y="48508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 •  32,5%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6473952" y="5513832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Nenhum motivo concentra mais registros que os demais nesta base.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98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 /  INTERPRETAÇÃO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6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os números sugerem investigar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resultados identificam prioridades de acompanhamento; as causas precisam ser validadas com dados operacionais adicionais.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1792" y="1664208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141816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4708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0B4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2880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Acompanhar o fluxo de entrega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258568"/>
            <a:ext cx="4901184" cy="0"/>
          </a:xfrm>
          <a:prstGeom prst="line">
            <a:avLst/>
          </a:prstGeom>
          <a:noFill/>
          <a:ln w="8890">
            <a:solidFill>
              <a:srgbClr val="3037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432304"/>
            <a:ext cx="48097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 pedidos ainda aparecem “Em transporte”. Priorizar visibilidade por idade do pedido e revisar o status em aberto.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81344" y="1664208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141816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2512" y="184708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C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31152" y="182880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Investigar cancelamentos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82512" y="2258568"/>
            <a:ext cx="4901184" cy="0"/>
          </a:xfrm>
          <a:prstGeom prst="line">
            <a:avLst/>
          </a:prstGeom>
          <a:noFill/>
          <a:ln w="8890">
            <a:solidFill>
              <a:srgbClr val="3037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512" y="2432304"/>
            <a:ext cx="48097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pedidos foram cancelados. Incluir motivo padronizado de cancelamento e cruzar com canal, categoria e período.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" y="365760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141816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84048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38B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82219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Reduzir pendências de devolução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4251960"/>
            <a:ext cx="4901184" cy="0"/>
          </a:xfrm>
          <a:prstGeom prst="line">
            <a:avLst/>
          </a:prstGeom>
          <a:noFill/>
          <a:ln w="8890">
            <a:solidFill>
              <a:srgbClr val="3037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425696"/>
            <a:ext cx="48097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registros seguem “Em análise”. Acompanhar tempo de resolução e desfecho para identificar gargalos.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81344" y="365760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141816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82512" y="384048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4AA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31152" y="382219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Padronizar dimensões textuais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82512" y="4251960"/>
            <a:ext cx="4901184" cy="0"/>
          </a:xfrm>
          <a:prstGeom prst="line">
            <a:avLst/>
          </a:prstGeom>
          <a:noFill/>
          <a:ln w="8890">
            <a:solidFill>
              <a:srgbClr val="3037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82512" y="4425696"/>
            <a:ext cx="48097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Nomes de produtos têm espaços extras em alguns registros. Limpar texto e usar IDs como chave de agrupamento.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" y="5742432"/>
            <a:ext cx="10972800" cy="365760"/>
          </a:xfrm>
          <a:prstGeom prst="roundRect">
            <a:avLst>
              <a:gd name="adj" fmla="val 30000"/>
            </a:avLst>
          </a:prstGeom>
          <a:solidFill>
            <a:srgbClr val="1B211D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2104" y="5833872"/>
            <a:ext cx="1252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PRÓXIMO PASSO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2212848" y="5797296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os KPIs em conjunto com o negócio e enriquecer a base antes de afirmar causas ou eficiência logística.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98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 /  CONCLUSÃO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6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Uma base para decisões mais consistentes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9728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A5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projeto organiza os registros e transforma uma visão tabular em análise visual e perguntas acionáveis.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1792" y="1664208"/>
            <a:ext cx="5349240" cy="3886200"/>
          </a:xfrm>
          <a:prstGeom prst="roundRect">
            <a:avLst>
              <a:gd name="adj" fmla="val 2824"/>
            </a:avLst>
          </a:prstGeom>
          <a:solidFill>
            <a:srgbClr val="141816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19202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HABILIDADES DEMONSTRADAS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96112" y="2414016"/>
            <a:ext cx="73152" cy="73152"/>
          </a:xfrm>
          <a:prstGeom prst="ellipse">
            <a:avLst/>
          </a:prstGeom>
          <a:solidFill>
            <a:srgbClr val="50B466"/>
          </a:solidFill>
          <a:ln w="12700">
            <a:solidFill>
              <a:srgbClr val="50B466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0704" y="2340864"/>
            <a:ext cx="4453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Exploração e validação básica de dados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896112" y="2907792"/>
            <a:ext cx="73152" cy="73152"/>
          </a:xfrm>
          <a:prstGeom prst="ellipse">
            <a:avLst/>
          </a:prstGeom>
          <a:solidFill>
            <a:srgbClr val="438BF2"/>
          </a:solidFill>
          <a:ln w="12700">
            <a:solidFill>
              <a:srgbClr val="438BF2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0704" y="2834640"/>
            <a:ext cx="4453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Modelagem relacional e chaves de ligação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896112" y="3401568"/>
            <a:ext cx="73152" cy="73152"/>
          </a:xfrm>
          <a:prstGeom prst="ellipse">
            <a:avLst/>
          </a:prstGeom>
          <a:solidFill>
            <a:srgbClr val="F2CF3A"/>
          </a:solidFill>
          <a:ln w="12700">
            <a:solidFill>
              <a:srgbClr val="F2CF3A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0704" y="3328416"/>
            <a:ext cx="4453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Definição e leitura de KPIs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896112" y="3895344"/>
            <a:ext cx="73152" cy="73152"/>
          </a:xfrm>
          <a:prstGeom prst="ellipse">
            <a:avLst/>
          </a:prstGeom>
          <a:solidFill>
            <a:srgbClr val="50B466"/>
          </a:solidFill>
          <a:ln w="12700">
            <a:solidFill>
              <a:srgbClr val="50B466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0704" y="3822192"/>
            <a:ext cx="4453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Dashboards, gráficos e segmentadores no Power BI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896112" y="4389120"/>
            <a:ext cx="73152" cy="73152"/>
          </a:xfrm>
          <a:prstGeom prst="ellipse">
            <a:avLst/>
          </a:prstGeom>
          <a:solidFill>
            <a:srgbClr val="A4AAA6"/>
          </a:solidFill>
          <a:ln w="12700">
            <a:solidFill>
              <a:srgbClr val="A4AAA6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0704" y="4315968"/>
            <a:ext cx="4453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por canal, categoria, tempo e status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896112" y="4882896"/>
            <a:ext cx="73152" cy="73152"/>
          </a:xfrm>
          <a:prstGeom prst="ellipse">
            <a:avLst/>
          </a:prstGeom>
          <a:solidFill>
            <a:srgbClr val="438BF2"/>
          </a:solidFill>
          <a:ln w="12700">
            <a:solidFill>
              <a:srgbClr val="438BF2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60704" y="4809744"/>
            <a:ext cx="4453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Comunicação de insights e recomendações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6199632" y="1664208"/>
            <a:ext cx="5349240" cy="3886200"/>
          </a:xfrm>
          <a:prstGeom prst="roundRect">
            <a:avLst>
              <a:gd name="adj" fmla="val 2824"/>
            </a:avLst>
          </a:prstGeom>
          <a:solidFill>
            <a:srgbClr val="1B211D"/>
          </a:solidFill>
          <a:ln w="9525">
            <a:solidFill>
              <a:srgbClr val="3037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73952" y="19202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F2C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LIMITAÇÕES E EVOLUÇÃO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6473952" y="2340864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base não inclui datas previstas/realizadas de entrega, frete, custo logístico ou motivo estruturado para cancelamento. Por isso, não permite medir SLA, atraso de entrega ou rentabilidade logística.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73952" y="3493008"/>
            <a:ext cx="4754880" cy="0"/>
          </a:xfrm>
          <a:prstGeom prst="line">
            <a:avLst/>
          </a:prstGeom>
          <a:noFill/>
          <a:ln w="8890">
            <a:solidFill>
              <a:srgbClr val="30373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3952" y="3712464"/>
            <a:ext cx="4206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50B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EVOLUÇÃO RECOMENDADA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73952" y="4133088"/>
            <a:ext cx="73152" cy="73152"/>
          </a:xfrm>
          <a:prstGeom prst="ellipse">
            <a:avLst/>
          </a:prstGeom>
          <a:solidFill>
            <a:srgbClr val="50B466"/>
          </a:solidFill>
          <a:ln w="12700">
            <a:solidFill>
              <a:srgbClr val="50B466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38544" y="4059936"/>
            <a:ext cx="4361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Adicionar prazos prometidos e realizados.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473952" y="4626864"/>
            <a:ext cx="73152" cy="73152"/>
          </a:xfrm>
          <a:prstGeom prst="ellipse">
            <a:avLst/>
          </a:prstGeom>
          <a:solidFill>
            <a:srgbClr val="438BF2"/>
          </a:solidFill>
          <a:ln w="12700">
            <a:solidFill>
              <a:srgbClr val="438BF2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38544" y="4553712"/>
            <a:ext cx="4361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frete e custo por pedido.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6473952" y="5120640"/>
            <a:ext cx="73152" cy="73152"/>
          </a:xfrm>
          <a:prstGeom prst="ellipse">
            <a:avLst/>
          </a:prstGeom>
          <a:solidFill>
            <a:srgbClr val="F2CF3A"/>
          </a:solidFill>
          <a:ln w="12700">
            <a:solidFill>
              <a:srgbClr val="F2CF3A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38544" y="5047488"/>
            <a:ext cx="4361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D3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Documentar a regra de cada indicador.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621792" y="6099048"/>
            <a:ext cx="10972800" cy="54864"/>
          </a:xfrm>
          <a:prstGeom prst="rect">
            <a:avLst/>
          </a:prstGeom>
          <a:solidFill>
            <a:srgbClr val="50B466"/>
          </a:solidFill>
          <a:ln w="9525">
            <a:solidFill>
              <a:srgbClr val="50B46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" y="5705856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6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RESULTADO: uma visão mais clara do desempenho comercial, do fluxo dos pedidos e das devoluções — com ressalvas explícitas e próximos passos definidos.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98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Portfolio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de Logística Empresarial</dc:title>
  <dc:subject>Análise de Logística Empresarial — processo, indicadores e conclusões</dc:subject>
  <dc:creator>Portfolio de Análise de Dados</dc:creator>
  <cp:lastModifiedBy>Portfolio de Análise de Dados</cp:lastModifiedBy>
  <cp:revision>1</cp:revision>
  <dcterms:created xsi:type="dcterms:W3CDTF">2026-10-19T14:01:35Z</dcterms:created>
  <dcterms:modified xsi:type="dcterms:W3CDTF">2026-10-19T14:01:35Z</dcterms:modified>
</cp:coreProperties>
</file>